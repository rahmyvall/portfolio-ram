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Caveat" panose="020B0604020202020204" charset="0"/>
      <p:regular r:id="rId12"/>
      <p:bold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lack" panose="02000000000000000000" pitchFamily="2" charset="0"/>
      <p:bold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f5faab1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ef5faab1c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f5faab1c6_0_5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" name="Google Shape;67;g2ef5faab1c6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f5faab1c6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f5faab1c6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f5faab1c6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f5faab1c6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f5faab1c6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f5faab1c6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f5faab1c6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f5faab1c6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f5faab1c6_0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ef5faab1c6_0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f5faab1c6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f5faab1c6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ef5faab1c6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ef5faab1c6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7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cs.google.com/document/d/1MYNs-7qkSsU3Wkx9joNt-FNnEJU4d3N6Vc9mCeTSRdk/edit?usp=sharing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Case Study - E-Learning</a:t>
            </a:r>
            <a:endParaRPr sz="2300" b="1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792125" y="1691150"/>
            <a:ext cx="52695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Implementing SQL: </a:t>
            </a:r>
            <a:endParaRPr sz="4500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id" sz="45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TechCorp</a:t>
            </a:r>
            <a:endParaRPr sz="45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d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Unnikke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Rahmawati</a:t>
            </a:r>
            <a:endParaRPr sz="23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d" sz="1400" b="0" i="0" u="none" strike="noStrike" cap="non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 </a:t>
            </a:r>
            <a:endParaRPr sz="1400" b="0" i="0" u="none" strike="noStrike" cap="non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5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70" name="Google Shape;70;p1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74" name="Google Shape;74;p1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1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225" y="1656851"/>
            <a:ext cx="2797700" cy="22390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930925" y="1272800"/>
            <a:ext cx="5717100" cy="3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TechCorp adalah perusahaan e-commerce yang berfokus pada penjualan produk elektronik seperti laptop, smartphone, dan aksesoris. TechCorp juga menyediakan layanan dukungan pelanggan untuk membantu pelanggan dengan masalah teknis dan pertanyaan mengenai produk yang dijual.  </a:t>
            </a:r>
            <a:endParaRPr sz="15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d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Sebagai seorang Data Analyst di Perusahaan ini, kamu ditugaskan untuk menganalisis beberapa data untuk keperluan laporan keuangan dan analisis performa bisnis.</a:t>
            </a:r>
            <a:endParaRPr sz="15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d" sz="1500" b="1">
                <a:latin typeface="Roboto"/>
                <a:ea typeface="Roboto"/>
                <a:cs typeface="Roboto"/>
                <a:sym typeface="Roboto"/>
              </a:rPr>
              <a:t>Data Input for Tables :</a:t>
            </a:r>
            <a:r>
              <a:rPr lang="id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Download disini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Identifikasi 3 pelanggan teratas berdasarkan total nominal pesanan!</a:t>
            </a:r>
            <a:endParaRPr sz="17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94" name="Google Shape;94;p1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p16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98" name="Google Shape;98;p1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012873" y="1874279"/>
            <a:ext cx="2727277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>
                <a:latin typeface="Aptos Display" panose="020B0004020202020204" pitchFamily="34" charset="0"/>
              </a:rPr>
              <a:t>SELECT </a:t>
            </a:r>
            <a:r>
              <a:rPr lang="en-ID" sz="1000" dirty="0" err="1">
                <a:latin typeface="Aptos Display" panose="020B0004020202020204" pitchFamily="34" charset="0"/>
              </a:rPr>
              <a:t>c.customer_id</a:t>
            </a:r>
            <a:r>
              <a:rPr lang="en-ID" sz="1000" dirty="0">
                <a:latin typeface="Aptos Display" panose="020B0004020202020204" pitchFamily="34" charset="0"/>
              </a:rPr>
              <a:t>, CONCAT(</a:t>
            </a:r>
            <a:r>
              <a:rPr lang="en-ID" sz="1000" dirty="0" err="1">
                <a:latin typeface="Aptos Display" panose="020B0004020202020204" pitchFamily="34" charset="0"/>
              </a:rPr>
              <a:t>c.first_name</a:t>
            </a:r>
            <a:r>
              <a:rPr lang="en-ID" sz="1000" dirty="0">
                <a:latin typeface="Aptos Display" panose="020B0004020202020204" pitchFamily="34" charset="0"/>
              </a:rPr>
              <a:t>, ' ', </a:t>
            </a:r>
            <a:r>
              <a:rPr lang="en-ID" sz="1000" dirty="0" err="1">
                <a:latin typeface="Aptos Display" panose="020B0004020202020204" pitchFamily="34" charset="0"/>
              </a:rPr>
              <a:t>c.last_name</a:t>
            </a:r>
            <a:r>
              <a:rPr lang="en-ID" sz="1000" dirty="0">
                <a:latin typeface="Aptos Display" panose="020B0004020202020204" pitchFamily="34" charset="0"/>
              </a:rPr>
              <a:t>) AS </a:t>
            </a:r>
            <a:r>
              <a:rPr lang="en-ID" sz="1000" dirty="0" err="1">
                <a:latin typeface="Aptos Display" panose="020B0004020202020204" pitchFamily="34" charset="0"/>
              </a:rPr>
              <a:t>customer_name</a:t>
            </a:r>
            <a:r>
              <a:rPr lang="en-ID" sz="1000" dirty="0">
                <a:latin typeface="Aptos Display" panose="020B0004020202020204" pitchFamily="34" charset="0"/>
              </a:rPr>
              <a:t>, SUM(</a:t>
            </a:r>
            <a:r>
              <a:rPr lang="en-ID" sz="1000" dirty="0" err="1">
                <a:latin typeface="Aptos Display" panose="020B0004020202020204" pitchFamily="34" charset="0"/>
              </a:rPr>
              <a:t>o.total_amount</a:t>
            </a:r>
            <a:r>
              <a:rPr lang="en-ID" sz="1000" dirty="0">
                <a:latin typeface="Aptos Display" panose="020B0004020202020204" pitchFamily="34" charset="0"/>
              </a:rPr>
              <a:t>) AS </a:t>
            </a:r>
            <a:r>
              <a:rPr lang="en-ID" sz="1000" dirty="0" err="1">
                <a:latin typeface="Aptos Display" panose="020B0004020202020204" pitchFamily="34" charset="0"/>
              </a:rPr>
              <a:t>total_order_amount</a:t>
            </a:r>
            <a:r>
              <a:rPr lang="en-ID" sz="1000" dirty="0">
                <a:latin typeface="Aptos Display" panose="020B0004020202020204" pitchFamily="34" charset="0"/>
              </a:rPr>
              <a:t> FROM Customers c JOIN Orders o ON </a:t>
            </a:r>
            <a:r>
              <a:rPr lang="en-ID" sz="1000" dirty="0" err="1">
                <a:latin typeface="Aptos Display" panose="020B0004020202020204" pitchFamily="34" charset="0"/>
              </a:rPr>
              <a:t>c.customer_id</a:t>
            </a:r>
            <a:r>
              <a:rPr lang="en-ID" sz="1000" dirty="0">
                <a:latin typeface="Aptos Display" panose="020B0004020202020204" pitchFamily="34" charset="0"/>
              </a:rPr>
              <a:t> = </a:t>
            </a:r>
            <a:r>
              <a:rPr lang="en-ID" sz="1000" dirty="0" err="1">
                <a:latin typeface="Aptos Display" panose="020B0004020202020204" pitchFamily="34" charset="0"/>
              </a:rPr>
              <a:t>o.customer_id</a:t>
            </a:r>
            <a:r>
              <a:rPr lang="en-ID" sz="1000" dirty="0">
                <a:latin typeface="Aptos Display" panose="020B0004020202020204" pitchFamily="34" charset="0"/>
              </a:rPr>
              <a:t> GROUP BY </a:t>
            </a:r>
            <a:r>
              <a:rPr lang="en-ID" sz="1000" dirty="0" err="1">
                <a:latin typeface="Aptos Display" panose="020B0004020202020204" pitchFamily="34" charset="0"/>
              </a:rPr>
              <a:t>c.customer_id</a:t>
            </a:r>
            <a:r>
              <a:rPr lang="en-ID" sz="1000" dirty="0">
                <a:latin typeface="Aptos Display" panose="020B0004020202020204" pitchFamily="34" charset="0"/>
              </a:rPr>
              <a:t>, </a:t>
            </a:r>
            <a:r>
              <a:rPr lang="en-ID" sz="1000" dirty="0" err="1">
                <a:latin typeface="Aptos Display" panose="020B0004020202020204" pitchFamily="34" charset="0"/>
              </a:rPr>
              <a:t>c.first_name</a:t>
            </a:r>
            <a:r>
              <a:rPr lang="en-ID" sz="1000" dirty="0">
                <a:latin typeface="Aptos Display" panose="020B0004020202020204" pitchFamily="34" charset="0"/>
              </a:rPr>
              <a:t>, </a:t>
            </a:r>
            <a:r>
              <a:rPr lang="en-ID" sz="1000" dirty="0" err="1">
                <a:latin typeface="Aptos Display" panose="020B0004020202020204" pitchFamily="34" charset="0"/>
              </a:rPr>
              <a:t>c.last_name</a:t>
            </a:r>
            <a:r>
              <a:rPr lang="en-ID" sz="1000" dirty="0">
                <a:latin typeface="Aptos Display" panose="020B0004020202020204" pitchFamily="34" charset="0"/>
              </a:rPr>
              <a:t> ORDER BY </a:t>
            </a:r>
            <a:r>
              <a:rPr lang="en-ID" sz="1000" dirty="0" err="1">
                <a:latin typeface="Aptos Display" panose="020B0004020202020204" pitchFamily="34" charset="0"/>
              </a:rPr>
              <a:t>total_order_amount</a:t>
            </a:r>
            <a:r>
              <a:rPr lang="en-ID" sz="1000" dirty="0">
                <a:latin typeface="Aptos Display" panose="020B0004020202020204" pitchFamily="34" charset="0"/>
              </a:rPr>
              <a:t> DESC LIMIT 3;</a:t>
            </a:r>
            <a:endParaRPr sz="1000" b="1" dirty="0">
              <a:solidFill>
                <a:srgbClr val="B7B7B7"/>
              </a:solidFill>
              <a:latin typeface="Aptos Display" panose="020B0004020202020204" pitchFamily="34" charset="0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B18EDB-C77A-78C3-4288-EF67ADBA0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8736"/>
              </p:ext>
            </p:extLst>
          </p:nvPr>
        </p:nvGraphicFramePr>
        <p:xfrm>
          <a:off x="561109" y="1874279"/>
          <a:ext cx="499967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309">
                  <a:extLst>
                    <a:ext uri="{9D8B030D-6E8A-4147-A177-3AD203B41FA5}">
                      <a16:colId xmlns:a16="http://schemas.microsoft.com/office/drawing/2014/main" val="1073843634"/>
                    </a:ext>
                  </a:extLst>
                </a:gridCol>
                <a:gridCol w="1833256">
                  <a:extLst>
                    <a:ext uri="{9D8B030D-6E8A-4147-A177-3AD203B41FA5}">
                      <a16:colId xmlns:a16="http://schemas.microsoft.com/office/drawing/2014/main" val="331438127"/>
                    </a:ext>
                  </a:extLst>
                </a:gridCol>
                <a:gridCol w="1767112">
                  <a:extLst>
                    <a:ext uri="{9D8B030D-6E8A-4147-A177-3AD203B41FA5}">
                      <a16:colId xmlns:a16="http://schemas.microsoft.com/office/drawing/2014/main" val="3222874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 dirty="0" err="1"/>
                        <a:t>customer_id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customer_name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/>
                        <a:t>total_order_amount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96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John Doe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3535.00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55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Jane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1135.00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70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Michael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300.00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851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Temukan rata-rata nominal pesanan untuk setiap pelanggan!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17" name="Google Shape;117;p1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21" name="Google Shape;121;p1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1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662483" y="1860425"/>
            <a:ext cx="2842057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 dirty="0"/>
              <a:t>SELECT </a:t>
            </a:r>
            <a:r>
              <a:rPr lang="en-ID" sz="1000" dirty="0" err="1"/>
              <a:t>c.customer_id</a:t>
            </a:r>
            <a:r>
              <a:rPr lang="en-ID" sz="1000" dirty="0"/>
              <a:t>, CONCAT(</a:t>
            </a:r>
            <a:r>
              <a:rPr lang="en-ID" sz="1000" dirty="0" err="1"/>
              <a:t>c.first_name</a:t>
            </a:r>
            <a:r>
              <a:rPr lang="en-ID" sz="1000" dirty="0"/>
              <a:t>, ' ', </a:t>
            </a:r>
            <a:r>
              <a:rPr lang="en-ID" sz="1000" dirty="0" err="1"/>
              <a:t>c.last_name</a:t>
            </a:r>
            <a:r>
              <a:rPr lang="en-ID" sz="1000" dirty="0"/>
              <a:t>) AS </a:t>
            </a:r>
            <a:r>
              <a:rPr lang="en-ID" sz="1000" dirty="0" err="1"/>
              <a:t>customer_name</a:t>
            </a:r>
            <a:r>
              <a:rPr lang="en-ID" sz="1000" dirty="0"/>
              <a:t>, AVG(</a:t>
            </a:r>
            <a:r>
              <a:rPr lang="en-ID" sz="1000" dirty="0" err="1"/>
              <a:t>o.total_amount</a:t>
            </a:r>
            <a:r>
              <a:rPr lang="en-ID" sz="1000" dirty="0"/>
              <a:t>) AS </a:t>
            </a:r>
            <a:r>
              <a:rPr lang="en-ID" sz="1000" dirty="0" err="1"/>
              <a:t>average_order_amount</a:t>
            </a:r>
            <a:r>
              <a:rPr lang="en-ID" sz="1000" dirty="0"/>
              <a:t> FROM Customers c JOIN Orders o ON </a:t>
            </a:r>
            <a:r>
              <a:rPr lang="en-ID" sz="1000" dirty="0" err="1"/>
              <a:t>c.customer_id</a:t>
            </a:r>
            <a:r>
              <a:rPr lang="en-ID" sz="1000" dirty="0"/>
              <a:t> = </a:t>
            </a:r>
            <a:r>
              <a:rPr lang="en-ID" sz="1000" dirty="0" err="1"/>
              <a:t>o.customer_id</a:t>
            </a:r>
            <a:r>
              <a:rPr lang="en-ID" sz="1000" dirty="0"/>
              <a:t> GROUP BY </a:t>
            </a:r>
            <a:r>
              <a:rPr lang="en-ID" sz="1000" dirty="0" err="1"/>
              <a:t>c.customer_id</a:t>
            </a:r>
            <a:r>
              <a:rPr lang="en-ID" sz="1000" dirty="0"/>
              <a:t>, </a:t>
            </a:r>
            <a:r>
              <a:rPr lang="en-ID" sz="1000" dirty="0" err="1"/>
              <a:t>c.first_name</a:t>
            </a:r>
            <a:r>
              <a:rPr lang="en-ID" sz="1000" dirty="0"/>
              <a:t>, </a:t>
            </a:r>
            <a:r>
              <a:rPr lang="en-ID" sz="1000" dirty="0" err="1"/>
              <a:t>c.last_name</a:t>
            </a:r>
            <a:r>
              <a:rPr lang="en-ID" sz="1000" dirty="0"/>
              <a:t>;</a:t>
            </a:r>
            <a:r>
              <a:rPr lang="id" sz="1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Lampirkan jawaban kamu disini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B3C5C-347D-BD7C-6372-12305BAB6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47759"/>
              </p:ext>
            </p:extLst>
          </p:nvPr>
        </p:nvGraphicFramePr>
        <p:xfrm>
          <a:off x="346363" y="1860425"/>
          <a:ext cx="4999677" cy="163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309">
                  <a:extLst>
                    <a:ext uri="{9D8B030D-6E8A-4147-A177-3AD203B41FA5}">
                      <a16:colId xmlns:a16="http://schemas.microsoft.com/office/drawing/2014/main" val="1073843634"/>
                    </a:ext>
                  </a:extLst>
                </a:gridCol>
                <a:gridCol w="1833256">
                  <a:extLst>
                    <a:ext uri="{9D8B030D-6E8A-4147-A177-3AD203B41FA5}">
                      <a16:colId xmlns:a16="http://schemas.microsoft.com/office/drawing/2014/main" val="331438127"/>
                    </a:ext>
                  </a:extLst>
                </a:gridCol>
                <a:gridCol w="1767112">
                  <a:extLst>
                    <a:ext uri="{9D8B030D-6E8A-4147-A177-3AD203B41FA5}">
                      <a16:colId xmlns:a16="http://schemas.microsoft.com/office/drawing/2014/main" val="3222874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D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customer_name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average_order_amount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960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John Doe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1767.50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557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Jane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567.50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70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Emily Johnson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25.00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851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Temukan semua karyawan yang telah menyelesaikan lebih dari 4 tiket support!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40" name="Google Shape;140;p1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8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44" name="Google Shape;144;p1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555672" y="1928861"/>
            <a:ext cx="2668875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-US" sz="1000" dirty="0"/>
              <a:t>SELECT </a:t>
            </a:r>
            <a:r>
              <a:rPr lang="en-US" sz="1000" dirty="0" err="1"/>
              <a:t>e.employee_id</a:t>
            </a:r>
            <a:r>
              <a:rPr lang="en-US" sz="1000" dirty="0"/>
              <a:t>, CONCAT(</a:t>
            </a:r>
            <a:r>
              <a:rPr lang="en-US" sz="1000" dirty="0" err="1"/>
              <a:t>e.first_name</a:t>
            </a:r>
            <a:r>
              <a:rPr lang="en-US" sz="1000" dirty="0"/>
              <a:t>, ' ', </a:t>
            </a:r>
            <a:r>
              <a:rPr lang="en-US" sz="1000" dirty="0" err="1"/>
              <a:t>e.last_name</a:t>
            </a:r>
            <a:r>
              <a:rPr lang="en-US" sz="1000" dirty="0"/>
              <a:t>) AS </a:t>
            </a:r>
            <a:r>
              <a:rPr lang="en-US" sz="1000" dirty="0" err="1"/>
              <a:t>employee_name</a:t>
            </a:r>
            <a:r>
              <a:rPr lang="en-US" sz="1000" dirty="0"/>
              <a:t>, COUNT(</a:t>
            </a:r>
            <a:r>
              <a:rPr lang="en-US" sz="1000" dirty="0" err="1"/>
              <a:t>st.ticket_id</a:t>
            </a:r>
            <a:r>
              <a:rPr lang="en-US" sz="1000" dirty="0"/>
              <a:t>) AS </a:t>
            </a:r>
            <a:r>
              <a:rPr lang="en-US" sz="1000" dirty="0" err="1"/>
              <a:t>resolved_ticket_count</a:t>
            </a:r>
            <a:r>
              <a:rPr lang="en-US" sz="1000" dirty="0"/>
              <a:t> FROM Employees e JOIN </a:t>
            </a:r>
            <a:r>
              <a:rPr lang="en-US" sz="1000" dirty="0" err="1"/>
              <a:t>SupportTickets</a:t>
            </a:r>
            <a:r>
              <a:rPr lang="en-US" sz="1000" dirty="0"/>
              <a:t> </a:t>
            </a:r>
            <a:r>
              <a:rPr lang="en-US" sz="1000" dirty="0" err="1"/>
              <a:t>st</a:t>
            </a:r>
            <a:r>
              <a:rPr lang="en-US" sz="1000" dirty="0"/>
              <a:t> ON </a:t>
            </a:r>
            <a:r>
              <a:rPr lang="en-US" sz="1000" dirty="0" err="1"/>
              <a:t>e.employee_id</a:t>
            </a:r>
            <a:r>
              <a:rPr lang="en-US" sz="1000" dirty="0"/>
              <a:t> = </a:t>
            </a:r>
            <a:r>
              <a:rPr lang="en-US" sz="1000" dirty="0" err="1"/>
              <a:t>st.employee_id</a:t>
            </a:r>
            <a:r>
              <a:rPr lang="en-US" sz="1000" dirty="0"/>
              <a:t> WHERE </a:t>
            </a:r>
            <a:r>
              <a:rPr lang="en-US" sz="1000" dirty="0" err="1"/>
              <a:t>st.status</a:t>
            </a:r>
            <a:r>
              <a:rPr lang="en-US" sz="1000" dirty="0"/>
              <a:t> = 'resolved' GROUP BY </a:t>
            </a:r>
            <a:r>
              <a:rPr lang="en-US" sz="1000" dirty="0" err="1"/>
              <a:t>e.employee_id</a:t>
            </a:r>
            <a:r>
              <a:rPr lang="en-US" sz="1000" dirty="0"/>
              <a:t>, </a:t>
            </a:r>
            <a:r>
              <a:rPr lang="en-US" sz="1000" dirty="0" err="1"/>
              <a:t>e.first_name</a:t>
            </a:r>
            <a:r>
              <a:rPr lang="en-US" sz="1000" dirty="0"/>
              <a:t>, </a:t>
            </a:r>
            <a:r>
              <a:rPr lang="en-US" sz="1000" dirty="0" err="1"/>
              <a:t>e.last_name</a:t>
            </a:r>
            <a:r>
              <a:rPr lang="en-US" sz="1000" dirty="0"/>
              <a:t> HAVING COUNT(</a:t>
            </a:r>
            <a:r>
              <a:rPr lang="en-US" sz="1000" dirty="0" err="1"/>
              <a:t>st.ticket_id</a:t>
            </a:r>
            <a:r>
              <a:rPr lang="en-US" sz="1000" dirty="0"/>
              <a:t>) &gt; 4;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FB656-7CEF-8350-0EC2-94D91E5B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50158"/>
              </p:ext>
            </p:extLst>
          </p:nvPr>
        </p:nvGraphicFramePr>
        <p:xfrm>
          <a:off x="311728" y="1853334"/>
          <a:ext cx="4842165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4055">
                  <a:extLst>
                    <a:ext uri="{9D8B030D-6E8A-4147-A177-3AD203B41FA5}">
                      <a16:colId xmlns:a16="http://schemas.microsoft.com/office/drawing/2014/main" val="905521807"/>
                    </a:ext>
                  </a:extLst>
                </a:gridCol>
                <a:gridCol w="1614055">
                  <a:extLst>
                    <a:ext uri="{9D8B030D-6E8A-4147-A177-3AD203B41FA5}">
                      <a16:colId xmlns:a16="http://schemas.microsoft.com/office/drawing/2014/main" val="3228101724"/>
                    </a:ext>
                  </a:extLst>
                </a:gridCol>
                <a:gridCol w="1614055">
                  <a:extLst>
                    <a:ext uri="{9D8B030D-6E8A-4147-A177-3AD203B41FA5}">
                      <a16:colId xmlns:a16="http://schemas.microsoft.com/office/drawing/2014/main" val="1613110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/>
                        <a:t>employee_id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employee_name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resolved_ticket_count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59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Alice Williams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781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Temukan semua produk yang belum pernah dipesan!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2" name="Google Shape;162;p19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63" name="Google Shape;163;p1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67" name="Google Shape;167;p1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126610" y="1717650"/>
            <a:ext cx="2377930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SELECT </a:t>
            </a:r>
            <a:r>
              <a:rPr lang="en-US" sz="1000" dirty="0" err="1"/>
              <a:t>p.product_id</a:t>
            </a:r>
            <a:r>
              <a:rPr lang="en-US" sz="1000" dirty="0"/>
              <a:t>, </a:t>
            </a:r>
            <a:r>
              <a:rPr lang="en-US" sz="1000" dirty="0" err="1"/>
              <a:t>p.product_name</a:t>
            </a:r>
            <a:r>
              <a:rPr lang="en-US" sz="1000" dirty="0"/>
              <a:t>, </a:t>
            </a:r>
            <a:r>
              <a:rPr lang="en-US" sz="1000" dirty="0" err="1"/>
              <a:t>p.category</a:t>
            </a:r>
            <a:r>
              <a:rPr lang="en-US" sz="1000" dirty="0"/>
              <a:t>, </a:t>
            </a:r>
            <a:r>
              <a:rPr lang="en-US" sz="1000" dirty="0" err="1"/>
              <a:t>p.price</a:t>
            </a:r>
            <a:r>
              <a:rPr lang="en-US" sz="1000" dirty="0"/>
              <a:t> FROM Products p LEFT JOIN </a:t>
            </a:r>
            <a:r>
              <a:rPr lang="en-US" sz="1000" dirty="0" err="1"/>
              <a:t>OrderDetails</a:t>
            </a:r>
            <a:r>
              <a:rPr lang="en-US" sz="1000" dirty="0"/>
              <a:t> od ON </a:t>
            </a:r>
            <a:r>
              <a:rPr lang="en-US" sz="1000" dirty="0" err="1"/>
              <a:t>p.product_id</a:t>
            </a:r>
            <a:r>
              <a:rPr lang="en-US" sz="1000" dirty="0"/>
              <a:t> = </a:t>
            </a:r>
            <a:r>
              <a:rPr lang="en-US" sz="1000" dirty="0" err="1"/>
              <a:t>od.product_id</a:t>
            </a:r>
            <a:r>
              <a:rPr lang="en-US" sz="1000" dirty="0"/>
              <a:t> WHERE </a:t>
            </a:r>
            <a:r>
              <a:rPr lang="en-US" sz="1000" dirty="0" err="1"/>
              <a:t>od.product_id</a:t>
            </a:r>
            <a:r>
              <a:rPr lang="en-US" sz="1000" dirty="0"/>
              <a:t> IS NULL;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665058-FCF9-33DF-8EE3-F3FDB513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091989"/>
              </p:ext>
            </p:extLst>
          </p:nvPr>
        </p:nvGraphicFramePr>
        <p:xfrm>
          <a:off x="360219" y="1717650"/>
          <a:ext cx="542405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014">
                  <a:extLst>
                    <a:ext uri="{9D8B030D-6E8A-4147-A177-3AD203B41FA5}">
                      <a16:colId xmlns:a16="http://schemas.microsoft.com/office/drawing/2014/main" val="2938018773"/>
                    </a:ext>
                  </a:extLst>
                </a:gridCol>
                <a:gridCol w="1356014">
                  <a:extLst>
                    <a:ext uri="{9D8B030D-6E8A-4147-A177-3AD203B41FA5}">
                      <a16:colId xmlns:a16="http://schemas.microsoft.com/office/drawing/2014/main" val="2037973002"/>
                    </a:ext>
                  </a:extLst>
                </a:gridCol>
                <a:gridCol w="1356014">
                  <a:extLst>
                    <a:ext uri="{9D8B030D-6E8A-4147-A177-3AD203B41FA5}">
                      <a16:colId xmlns:a16="http://schemas.microsoft.com/office/drawing/2014/main" val="3312008818"/>
                    </a:ext>
                  </a:extLst>
                </a:gridCol>
                <a:gridCol w="1356014">
                  <a:extLst>
                    <a:ext uri="{9D8B030D-6E8A-4147-A177-3AD203B41FA5}">
                      <a16:colId xmlns:a16="http://schemas.microsoft.com/office/drawing/2014/main" val="1710975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/>
                        <a:t>product_id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product_name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3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Wireless Earphones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100.00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9430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Hitung total pendapatan yang dihasilkan dari penjualan produk!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186" name="Google Shape;186;p2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0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190" name="Google Shape;190;p2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555672" y="1813520"/>
            <a:ext cx="2114693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SELECT SUM(quantity * </a:t>
            </a:r>
            <a:r>
              <a:rPr lang="en-US" sz="1000" dirty="0" err="1"/>
              <a:t>unit_price</a:t>
            </a:r>
            <a:r>
              <a:rPr lang="en-US" sz="1000" dirty="0"/>
              <a:t>) AS </a:t>
            </a:r>
            <a:r>
              <a:rPr lang="en-US" sz="1000" dirty="0" err="1"/>
              <a:t>total_revenue</a:t>
            </a:r>
            <a:r>
              <a:rPr lang="en-US" sz="1000" dirty="0"/>
              <a:t> FROM </a:t>
            </a:r>
            <a:r>
              <a:rPr lang="en-US" sz="1000" dirty="0" err="1"/>
              <a:t>OrderDetails</a:t>
            </a:r>
            <a:r>
              <a:rPr lang="en-US" sz="1000" dirty="0"/>
              <a:t>;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B75EEC-4B5D-2EF3-B40C-52DF16CD4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566434"/>
              </p:ext>
            </p:extLst>
          </p:nvPr>
        </p:nvGraphicFramePr>
        <p:xfrm>
          <a:off x="519546" y="1813520"/>
          <a:ext cx="488372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3727">
                  <a:extLst>
                    <a:ext uri="{9D8B030D-6E8A-4147-A177-3AD203B41FA5}">
                      <a16:colId xmlns:a16="http://schemas.microsoft.com/office/drawing/2014/main" val="558794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/>
                        <a:t>total_revenue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746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5145.00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3414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8500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Temukan harga rata-rata produk untuk setiap kategori dan temukan kategori dengan harga rata-rata lebih dari $500!</a:t>
            </a:r>
            <a:endParaRPr sz="17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8" name="Google Shape;208;p21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09" name="Google Shape;209;p21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21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13" name="Google Shape;213;p21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" name="Google Shape;222;p21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202;p20">
            <a:extLst>
              <a:ext uri="{FF2B5EF4-FFF2-40B4-BE49-F238E27FC236}">
                <a16:creationId xmlns:a16="http://schemas.microsoft.com/office/drawing/2014/main" id="{77EBED82-EC8E-1DDE-956D-BB5182BEBC6D}"/>
              </a:ext>
            </a:extLst>
          </p:cNvPr>
          <p:cNvSpPr/>
          <p:nvPr/>
        </p:nvSpPr>
        <p:spPr>
          <a:xfrm>
            <a:off x="6144490" y="1930447"/>
            <a:ext cx="2114693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SELECT category, AVG(price) AS </a:t>
            </a:r>
            <a:r>
              <a:rPr lang="en-US" sz="1100" dirty="0" err="1"/>
              <a:t>average_price</a:t>
            </a:r>
            <a:r>
              <a:rPr lang="en-US" sz="1100" dirty="0"/>
              <a:t> FROM Products GROUP BY category;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EFA66B-0347-E6ED-A78A-7CC250291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82138"/>
              </p:ext>
            </p:extLst>
          </p:nvPr>
        </p:nvGraphicFramePr>
        <p:xfrm>
          <a:off x="339437" y="1997273"/>
          <a:ext cx="54794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736">
                  <a:extLst>
                    <a:ext uri="{9D8B030D-6E8A-4147-A177-3AD203B41FA5}">
                      <a16:colId xmlns:a16="http://schemas.microsoft.com/office/drawing/2014/main" val="3804048668"/>
                    </a:ext>
                  </a:extLst>
                </a:gridCol>
                <a:gridCol w="2739736">
                  <a:extLst>
                    <a:ext uri="{9D8B030D-6E8A-4147-A177-3AD203B41FA5}">
                      <a16:colId xmlns:a16="http://schemas.microsoft.com/office/drawing/2014/main" val="4248957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average_price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1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1750.00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173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Smartphone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550.00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29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73.75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281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>
            <a:spLocks noGrp="1"/>
          </p:cNvSpPr>
          <p:nvPr>
            <p:ph type="body" idx="1"/>
          </p:nvPr>
        </p:nvSpPr>
        <p:spPr>
          <a:xfrm>
            <a:off x="212775" y="1201700"/>
            <a:ext cx="8665800" cy="4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Temukan pelanggan yang telah membuat setidaknya satu pesanan dengan total jumlah lebih dari $1000!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1" name="Google Shape;231;p22"/>
          <p:cNvGrpSpPr/>
          <p:nvPr/>
        </p:nvGrpSpPr>
        <p:grpSpPr>
          <a:xfrm>
            <a:off x="3854592" y="4740707"/>
            <a:ext cx="1434817" cy="389011"/>
            <a:chOff x="3248325" y="4588800"/>
            <a:chExt cx="2045939" cy="554700"/>
          </a:xfrm>
        </p:grpSpPr>
        <p:sp>
          <p:nvSpPr>
            <p:cNvPr id="232" name="Google Shape;232;p2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8325086" y="65154"/>
            <a:ext cx="763768" cy="752531"/>
            <a:chOff x="695950" y="3458000"/>
            <a:chExt cx="966550" cy="952450"/>
          </a:xfrm>
        </p:grpSpPr>
        <p:sp>
          <p:nvSpPr>
            <p:cNvPr id="236" name="Google Shape;236;p2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d" sz="1100" b="1" i="0" u="none" strike="noStrike" cap="non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sz="1100" b="1" i="0" u="none" strike="noStrike" cap="non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0175" y="4803797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259450" y="174550"/>
            <a:ext cx="8480700" cy="8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20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Case Study</a:t>
            </a:r>
            <a:endParaRPr sz="2000" b="1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" sz="3600" b="1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Implementing SQL: TechCorp</a:t>
            </a:r>
            <a:endParaRPr sz="36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534890" y="2015898"/>
            <a:ext cx="2668875" cy="2409900"/>
          </a:xfrm>
          <a:prstGeom prst="rect">
            <a:avLst/>
          </a:prstGeom>
          <a:noFill/>
          <a:ln w="28575" cap="flat" cmpd="sng">
            <a:solidFill>
              <a:srgbClr val="B7B7B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SELECT DISTINCT </a:t>
            </a:r>
            <a:r>
              <a:rPr lang="en-US" sz="1000" dirty="0" err="1"/>
              <a:t>c.customer_id</a:t>
            </a:r>
            <a:r>
              <a:rPr lang="en-US" sz="1000" dirty="0"/>
              <a:t>, CONCAT(</a:t>
            </a:r>
            <a:r>
              <a:rPr lang="en-US" sz="1000" dirty="0" err="1"/>
              <a:t>c.first_name</a:t>
            </a:r>
            <a:r>
              <a:rPr lang="en-US" sz="1000" dirty="0"/>
              <a:t>, ' ', </a:t>
            </a:r>
            <a:r>
              <a:rPr lang="en-US" sz="1000" dirty="0" err="1"/>
              <a:t>c.last_name</a:t>
            </a:r>
            <a:r>
              <a:rPr lang="en-US" sz="1000" dirty="0"/>
              <a:t>) AS </a:t>
            </a:r>
            <a:r>
              <a:rPr lang="en-US" sz="1000" dirty="0" err="1"/>
              <a:t>customer_name</a:t>
            </a:r>
            <a:r>
              <a:rPr lang="en-US" sz="1000" dirty="0"/>
              <a:t>, </a:t>
            </a:r>
            <a:r>
              <a:rPr lang="en-US" sz="1000" dirty="0" err="1"/>
              <a:t>o.total_amount</a:t>
            </a:r>
            <a:r>
              <a:rPr lang="en-US" sz="1000" dirty="0"/>
              <a:t> FROM Customers c JOIN Orders o ON </a:t>
            </a:r>
            <a:r>
              <a:rPr lang="en-US" sz="1000" dirty="0" err="1"/>
              <a:t>c.customer_id</a:t>
            </a:r>
            <a:r>
              <a:rPr lang="en-US" sz="1000" dirty="0"/>
              <a:t> = </a:t>
            </a:r>
            <a:r>
              <a:rPr lang="en-US" sz="1000" dirty="0" err="1"/>
              <a:t>o.customer_id</a:t>
            </a:r>
            <a:r>
              <a:rPr lang="en-US" sz="1000" dirty="0"/>
              <a:t> WHERE </a:t>
            </a:r>
            <a:r>
              <a:rPr lang="en-US" sz="1000" dirty="0" err="1"/>
              <a:t>o.total_amount</a:t>
            </a:r>
            <a:r>
              <a:rPr lang="en-US" sz="1000" dirty="0"/>
              <a:t> &gt; 1000;</a:t>
            </a:r>
            <a:r>
              <a:rPr lang="id" sz="1000" b="1" dirty="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1000" b="1" dirty="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E88277-7EB0-0FB8-DAA7-FE60DE6DA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336080"/>
              </p:ext>
            </p:extLst>
          </p:nvPr>
        </p:nvGraphicFramePr>
        <p:xfrm>
          <a:off x="259450" y="1990345"/>
          <a:ext cx="516460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535">
                  <a:extLst>
                    <a:ext uri="{9D8B030D-6E8A-4147-A177-3AD203B41FA5}">
                      <a16:colId xmlns:a16="http://schemas.microsoft.com/office/drawing/2014/main" val="1320994065"/>
                    </a:ext>
                  </a:extLst>
                </a:gridCol>
                <a:gridCol w="1721535">
                  <a:extLst>
                    <a:ext uri="{9D8B030D-6E8A-4147-A177-3AD203B41FA5}">
                      <a16:colId xmlns:a16="http://schemas.microsoft.com/office/drawing/2014/main" val="1964239390"/>
                    </a:ext>
                  </a:extLst>
                </a:gridCol>
                <a:gridCol w="1721535">
                  <a:extLst>
                    <a:ext uri="{9D8B030D-6E8A-4147-A177-3AD203B41FA5}">
                      <a16:colId xmlns:a16="http://schemas.microsoft.com/office/drawing/2014/main" val="851537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D" dirty="0" err="1"/>
                        <a:t>customer_id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customer_name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total_amount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4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John 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1525.00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4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John Doe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dirty="0"/>
                        <a:t>2010.00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0152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770</Words>
  <Application>Microsoft Office PowerPoint</Application>
  <PresentationFormat>On-screen Show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</vt:lpstr>
      <vt:lpstr>Open Sans</vt:lpstr>
      <vt:lpstr>Arial</vt:lpstr>
      <vt:lpstr>Aptos Display</vt:lpstr>
      <vt:lpstr>Roboto Black</vt:lpstr>
      <vt:lpstr>Caveat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Senior Full Stack Development Ram</cp:lastModifiedBy>
  <cp:revision>2</cp:revision>
  <dcterms:modified xsi:type="dcterms:W3CDTF">2026-07-03T04:42:03Z</dcterms:modified>
</cp:coreProperties>
</file>